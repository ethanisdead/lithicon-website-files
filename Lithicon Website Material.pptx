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275" r:id="rId3"/>
    <p:sldId id="276" r:id="rId4"/>
    <p:sldId id="277" r:id="rId5"/>
    <p:sldId id="258" r:id="rId6"/>
    <p:sldId id="260" r:id="rId7"/>
    <p:sldId id="261" r:id="rId8"/>
    <p:sldId id="262" r:id="rId9"/>
    <p:sldId id="263" r:id="rId10"/>
    <p:sldId id="264" r:id="rId11"/>
    <p:sldId id="265" r:id="rId12"/>
    <p:sldId id="266" r:id="rId13"/>
    <p:sldId id="267" r:id="rId14"/>
    <p:sldId id="268" r:id="rId15"/>
    <p:sldId id="279" r:id="rId16"/>
    <p:sldId id="269" r:id="rId17"/>
    <p:sldId id="270" r:id="rId18"/>
    <p:sldId id="271" r:id="rId19"/>
    <p:sldId id="273" r:id="rId20"/>
    <p:sldId id="274" r:id="rId21"/>
    <p:sldId id="27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7C4D21-47CA-4209-8337-ECE3FEAE64C4}" v="1" dt="2026-08-07T15:48:25.1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Ojede" userId="5afdbadb6cc046af" providerId="LiveId" clId="{12B1F7FC-01E5-49E8-B81E-0849403719C2}"/>
    <pc:docChg chg="custSel addSld delSld modSld">
      <pc:chgData name="Andrew Ojede" userId="5afdbadb6cc046af" providerId="LiveId" clId="{12B1F7FC-01E5-49E8-B81E-0849403719C2}" dt="2026-08-07T15:48:27.827" v="13" actId="47"/>
      <pc:docMkLst>
        <pc:docMk/>
      </pc:docMkLst>
      <pc:sldChg chg="modSp mod">
        <pc:chgData name="Andrew Ojede" userId="5afdbadb6cc046af" providerId="LiveId" clId="{12B1F7FC-01E5-49E8-B81E-0849403719C2}" dt="2026-08-07T01:38:06.083" v="10" actId="14100"/>
        <pc:sldMkLst>
          <pc:docMk/>
          <pc:sldMk cId="3525477108" sldId="273"/>
        </pc:sldMkLst>
        <pc:picChg chg="mod">
          <ac:chgData name="Andrew Ojede" userId="5afdbadb6cc046af" providerId="LiveId" clId="{12B1F7FC-01E5-49E8-B81E-0849403719C2}" dt="2026-08-07T01:38:06.083" v="10" actId="14100"/>
          <ac:picMkLst>
            <pc:docMk/>
            <pc:sldMk cId="3525477108" sldId="273"/>
            <ac:picMk id="2" creationId="{88DC24E2-AF2D-4E4A-2F7A-65EBEC49E7FB}"/>
          </ac:picMkLst>
        </pc:picChg>
      </pc:sldChg>
      <pc:sldChg chg="new del">
        <pc:chgData name="Andrew Ojede" userId="5afdbadb6cc046af" providerId="LiveId" clId="{12B1F7FC-01E5-49E8-B81E-0849403719C2}" dt="2026-08-07T15:48:27.827" v="13" actId="47"/>
        <pc:sldMkLst>
          <pc:docMk/>
          <pc:sldMk cId="1648265370" sldId="278"/>
        </pc:sldMkLst>
      </pc:sldChg>
      <pc:sldChg chg="addSp delSp modSp new del mod">
        <pc:chgData name="Andrew Ojede" userId="5afdbadb6cc046af" providerId="LiveId" clId="{12B1F7FC-01E5-49E8-B81E-0849403719C2}" dt="2026-08-06T15:31:27.985" v="6" actId="47"/>
        <pc:sldMkLst>
          <pc:docMk/>
          <pc:sldMk cId="3772200509" sldId="278"/>
        </pc:sldMkLst>
        <pc:spChg chg="add del mod">
          <ac:chgData name="Andrew Ojede" userId="5afdbadb6cc046af" providerId="LiveId" clId="{12B1F7FC-01E5-49E8-B81E-0849403719C2}" dt="2026-08-06T15:31:07.390" v="3" actId="478"/>
          <ac:spMkLst>
            <pc:docMk/>
            <pc:sldMk cId="3772200509" sldId="278"/>
            <ac:spMk id="3" creationId="{5D4E2707-1EAF-2365-4356-1C3B408AE3C1}"/>
          </ac:spMkLst>
        </pc:spChg>
        <pc:spChg chg="add del">
          <ac:chgData name="Andrew Ojede" userId="5afdbadb6cc046af" providerId="LiveId" clId="{12B1F7FC-01E5-49E8-B81E-0849403719C2}" dt="2026-08-06T15:31:25.159" v="5" actId="478"/>
          <ac:spMkLst>
            <pc:docMk/>
            <pc:sldMk cId="3772200509" sldId="278"/>
            <ac:spMk id="5" creationId="{80B07981-9B4C-280D-9466-C3EB8504A366}"/>
          </ac:spMkLst>
        </pc:spChg>
      </pc:sldChg>
      <pc:sldChg chg="add">
        <pc:chgData name="Andrew Ojede" userId="5afdbadb6cc046af" providerId="LiveId" clId="{12B1F7FC-01E5-49E8-B81E-0849403719C2}" dt="2026-08-07T15:48:25.158" v="12"/>
        <pc:sldMkLst>
          <pc:docMk/>
          <pc:sldMk cId="3681343691" sldId="27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0FC75F-4169-4A19-8C97-66EC22B6393E}" type="datetimeFigureOut">
              <a:rPr lang="en-US" smtClean="0"/>
              <a:t>8/7/2026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5DE157-FE1D-4EB7-88CF-589E325A6AFE}" type="slidenum">
              <a:rPr lang="en-US" smtClean="0"/>
              <a:t>‹#›</a:t>
            </a:fld>
            <a:endParaRPr lang="en-US"/>
          </a:p>
        </p:txBody>
      </p:sp>
    </p:spTree>
    <p:extLst>
      <p:ext uri="{BB962C8B-B14F-4D97-AF65-F5344CB8AC3E}">
        <p14:creationId xmlns:p14="http://schemas.microsoft.com/office/powerpoint/2010/main" val="3702205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6E7A26-1F6B-42E8-9342-D638CDA251B2}" type="slidenum">
              <a:rPr lang="en-US" smtClean="0"/>
              <a:t>15</a:t>
            </a:fld>
            <a:endParaRPr lang="en-US"/>
          </a:p>
        </p:txBody>
      </p:sp>
    </p:spTree>
    <p:extLst>
      <p:ext uri="{BB962C8B-B14F-4D97-AF65-F5344CB8AC3E}">
        <p14:creationId xmlns:p14="http://schemas.microsoft.com/office/powerpoint/2010/main" val="439851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CC2EC-EB37-7C24-7C07-33DD1769D3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B52B18-DAB1-E276-A340-5F60917166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6949BAE-AE4A-0D08-837C-93236EC29F3E}"/>
              </a:ext>
            </a:extLst>
          </p:cNvPr>
          <p:cNvSpPr>
            <a:spLocks noGrp="1"/>
          </p:cNvSpPr>
          <p:nvPr>
            <p:ph type="dt" sz="half" idx="10"/>
          </p:nvPr>
        </p:nvSpPr>
        <p:spPr/>
        <p:txBody>
          <a:bodyPr/>
          <a:lstStyle/>
          <a:p>
            <a:fld id="{0E617308-C754-4D22-8800-89BDE01B9443}" type="datetimeFigureOut">
              <a:rPr lang="en-US" smtClean="0"/>
              <a:t>8/7/2026</a:t>
            </a:fld>
            <a:endParaRPr lang="en-US"/>
          </a:p>
        </p:txBody>
      </p:sp>
      <p:sp>
        <p:nvSpPr>
          <p:cNvPr id="5" name="Footer Placeholder 4">
            <a:extLst>
              <a:ext uri="{FF2B5EF4-FFF2-40B4-BE49-F238E27FC236}">
                <a16:creationId xmlns:a16="http://schemas.microsoft.com/office/drawing/2014/main" id="{B6837925-7C35-72AD-881B-AA8501E506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7FAEFE-0C40-2B6E-8368-C3502F7D57C3}"/>
              </a:ext>
            </a:extLst>
          </p:cNvPr>
          <p:cNvSpPr>
            <a:spLocks noGrp="1"/>
          </p:cNvSpPr>
          <p:nvPr>
            <p:ph type="sldNum" sz="quarter" idx="12"/>
          </p:nvPr>
        </p:nvSpPr>
        <p:spPr/>
        <p:txBody>
          <a:bodyPr/>
          <a:lstStyle/>
          <a:p>
            <a:fld id="{806D8FFD-70AB-4992-A4CE-3F53F7571332}" type="slidenum">
              <a:rPr lang="en-US" smtClean="0"/>
              <a:t>‹#›</a:t>
            </a:fld>
            <a:endParaRPr lang="en-US"/>
          </a:p>
        </p:txBody>
      </p:sp>
    </p:spTree>
    <p:extLst>
      <p:ext uri="{BB962C8B-B14F-4D97-AF65-F5344CB8AC3E}">
        <p14:creationId xmlns:p14="http://schemas.microsoft.com/office/powerpoint/2010/main" val="3726822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FFB79-FF6E-CD57-3A98-146E5D0F4B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AF066E-9F97-BF9B-E556-4B83B07C12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E35E41-5A4B-7C24-D6A0-769C4DA1DECD}"/>
              </a:ext>
            </a:extLst>
          </p:cNvPr>
          <p:cNvSpPr>
            <a:spLocks noGrp="1"/>
          </p:cNvSpPr>
          <p:nvPr>
            <p:ph type="dt" sz="half" idx="10"/>
          </p:nvPr>
        </p:nvSpPr>
        <p:spPr/>
        <p:txBody>
          <a:bodyPr/>
          <a:lstStyle/>
          <a:p>
            <a:fld id="{0E617308-C754-4D22-8800-89BDE01B9443}" type="datetimeFigureOut">
              <a:rPr lang="en-US" smtClean="0"/>
              <a:t>8/7/2026</a:t>
            </a:fld>
            <a:endParaRPr lang="en-US"/>
          </a:p>
        </p:txBody>
      </p:sp>
      <p:sp>
        <p:nvSpPr>
          <p:cNvPr id="5" name="Footer Placeholder 4">
            <a:extLst>
              <a:ext uri="{FF2B5EF4-FFF2-40B4-BE49-F238E27FC236}">
                <a16:creationId xmlns:a16="http://schemas.microsoft.com/office/drawing/2014/main" id="{36E17501-A5BF-BCC1-E5D1-FDAE95B8B9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D4AE20-1591-77ED-0F9F-F9AB02958D65}"/>
              </a:ext>
            </a:extLst>
          </p:cNvPr>
          <p:cNvSpPr>
            <a:spLocks noGrp="1"/>
          </p:cNvSpPr>
          <p:nvPr>
            <p:ph type="sldNum" sz="quarter" idx="12"/>
          </p:nvPr>
        </p:nvSpPr>
        <p:spPr/>
        <p:txBody>
          <a:bodyPr/>
          <a:lstStyle/>
          <a:p>
            <a:fld id="{806D8FFD-70AB-4992-A4CE-3F53F7571332}" type="slidenum">
              <a:rPr lang="en-US" smtClean="0"/>
              <a:t>‹#›</a:t>
            </a:fld>
            <a:endParaRPr lang="en-US"/>
          </a:p>
        </p:txBody>
      </p:sp>
    </p:spTree>
    <p:extLst>
      <p:ext uri="{BB962C8B-B14F-4D97-AF65-F5344CB8AC3E}">
        <p14:creationId xmlns:p14="http://schemas.microsoft.com/office/powerpoint/2010/main" val="931049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254C4-1E8F-9C96-C8C9-F328606A9E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965DA6-B19A-1833-A81B-59EDC00DAD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B9B80D-D195-C55A-1530-B36B34B752F8}"/>
              </a:ext>
            </a:extLst>
          </p:cNvPr>
          <p:cNvSpPr>
            <a:spLocks noGrp="1"/>
          </p:cNvSpPr>
          <p:nvPr>
            <p:ph type="dt" sz="half" idx="10"/>
          </p:nvPr>
        </p:nvSpPr>
        <p:spPr/>
        <p:txBody>
          <a:bodyPr/>
          <a:lstStyle/>
          <a:p>
            <a:fld id="{0E617308-C754-4D22-8800-89BDE01B9443}" type="datetimeFigureOut">
              <a:rPr lang="en-US" smtClean="0"/>
              <a:t>8/7/2026</a:t>
            </a:fld>
            <a:endParaRPr lang="en-US"/>
          </a:p>
        </p:txBody>
      </p:sp>
      <p:sp>
        <p:nvSpPr>
          <p:cNvPr id="5" name="Footer Placeholder 4">
            <a:extLst>
              <a:ext uri="{FF2B5EF4-FFF2-40B4-BE49-F238E27FC236}">
                <a16:creationId xmlns:a16="http://schemas.microsoft.com/office/drawing/2014/main" id="{0E636A50-4BF2-449B-855C-A872CF68CE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FD30C0-1A02-F3B0-0487-C8023876AA49}"/>
              </a:ext>
            </a:extLst>
          </p:cNvPr>
          <p:cNvSpPr>
            <a:spLocks noGrp="1"/>
          </p:cNvSpPr>
          <p:nvPr>
            <p:ph type="sldNum" sz="quarter" idx="12"/>
          </p:nvPr>
        </p:nvSpPr>
        <p:spPr/>
        <p:txBody>
          <a:bodyPr/>
          <a:lstStyle/>
          <a:p>
            <a:fld id="{806D8FFD-70AB-4992-A4CE-3F53F7571332}" type="slidenum">
              <a:rPr lang="en-US" smtClean="0"/>
              <a:t>‹#›</a:t>
            </a:fld>
            <a:endParaRPr lang="en-US"/>
          </a:p>
        </p:txBody>
      </p:sp>
    </p:spTree>
    <p:extLst>
      <p:ext uri="{BB962C8B-B14F-4D97-AF65-F5344CB8AC3E}">
        <p14:creationId xmlns:p14="http://schemas.microsoft.com/office/powerpoint/2010/main" val="3335356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B716E-00C5-3913-3C03-7CF8D5176B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4BBD34-B04F-7222-2452-5EA59B0556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D6BA0C-55B9-0586-FF46-C4CDD720CF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4F8A799-49A4-A2E7-32AC-F6A884ABB015}"/>
              </a:ext>
            </a:extLst>
          </p:cNvPr>
          <p:cNvSpPr>
            <a:spLocks noGrp="1"/>
          </p:cNvSpPr>
          <p:nvPr>
            <p:ph type="dt" sz="half" idx="10"/>
          </p:nvPr>
        </p:nvSpPr>
        <p:spPr/>
        <p:txBody>
          <a:bodyPr/>
          <a:lstStyle/>
          <a:p>
            <a:fld id="{0E617308-C754-4D22-8800-89BDE01B9443}" type="datetimeFigureOut">
              <a:rPr lang="en-US" smtClean="0"/>
              <a:t>8/7/2026</a:t>
            </a:fld>
            <a:endParaRPr lang="en-US"/>
          </a:p>
        </p:txBody>
      </p:sp>
      <p:sp>
        <p:nvSpPr>
          <p:cNvPr id="6" name="Footer Placeholder 5">
            <a:extLst>
              <a:ext uri="{FF2B5EF4-FFF2-40B4-BE49-F238E27FC236}">
                <a16:creationId xmlns:a16="http://schemas.microsoft.com/office/drawing/2014/main" id="{27E5D72B-8317-6BCE-816F-36DA7EAAE9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EF1E90-C358-AF30-FB71-688554DBF63C}"/>
              </a:ext>
            </a:extLst>
          </p:cNvPr>
          <p:cNvSpPr>
            <a:spLocks noGrp="1"/>
          </p:cNvSpPr>
          <p:nvPr>
            <p:ph type="sldNum" sz="quarter" idx="12"/>
          </p:nvPr>
        </p:nvSpPr>
        <p:spPr/>
        <p:txBody>
          <a:bodyPr/>
          <a:lstStyle/>
          <a:p>
            <a:fld id="{806D8FFD-70AB-4992-A4CE-3F53F7571332}" type="slidenum">
              <a:rPr lang="en-US" smtClean="0"/>
              <a:t>‹#›</a:t>
            </a:fld>
            <a:endParaRPr lang="en-US"/>
          </a:p>
        </p:txBody>
      </p:sp>
    </p:spTree>
    <p:extLst>
      <p:ext uri="{BB962C8B-B14F-4D97-AF65-F5344CB8AC3E}">
        <p14:creationId xmlns:p14="http://schemas.microsoft.com/office/powerpoint/2010/main" val="144353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38669-D50A-F0A1-B8D0-2BAC3D27C3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03F5B3-7BB1-1A42-E5F9-2AC165F433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BA1541-0709-9395-28DA-AC85B94119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65A6C07-542F-FE37-9134-744EBD8587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4AAEBC-7E5F-F3FC-0395-C10D49E857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85D23D-B05E-4E3C-85FE-9C48653D7094}"/>
              </a:ext>
            </a:extLst>
          </p:cNvPr>
          <p:cNvSpPr>
            <a:spLocks noGrp="1"/>
          </p:cNvSpPr>
          <p:nvPr>
            <p:ph type="dt" sz="half" idx="10"/>
          </p:nvPr>
        </p:nvSpPr>
        <p:spPr/>
        <p:txBody>
          <a:bodyPr/>
          <a:lstStyle/>
          <a:p>
            <a:fld id="{0E617308-C754-4D22-8800-89BDE01B9443}" type="datetimeFigureOut">
              <a:rPr lang="en-US" smtClean="0"/>
              <a:t>8/7/2026</a:t>
            </a:fld>
            <a:endParaRPr lang="en-US"/>
          </a:p>
        </p:txBody>
      </p:sp>
      <p:sp>
        <p:nvSpPr>
          <p:cNvPr id="8" name="Footer Placeholder 7">
            <a:extLst>
              <a:ext uri="{FF2B5EF4-FFF2-40B4-BE49-F238E27FC236}">
                <a16:creationId xmlns:a16="http://schemas.microsoft.com/office/drawing/2014/main" id="{146EAACF-CA7A-7578-978B-C01670F8C3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70588AE-CCED-3AEF-CB30-48F93011E560}"/>
              </a:ext>
            </a:extLst>
          </p:cNvPr>
          <p:cNvSpPr>
            <a:spLocks noGrp="1"/>
          </p:cNvSpPr>
          <p:nvPr>
            <p:ph type="sldNum" sz="quarter" idx="12"/>
          </p:nvPr>
        </p:nvSpPr>
        <p:spPr/>
        <p:txBody>
          <a:bodyPr/>
          <a:lstStyle/>
          <a:p>
            <a:fld id="{806D8FFD-70AB-4992-A4CE-3F53F7571332}" type="slidenum">
              <a:rPr lang="en-US" smtClean="0"/>
              <a:t>‹#›</a:t>
            </a:fld>
            <a:endParaRPr lang="en-US"/>
          </a:p>
        </p:txBody>
      </p:sp>
    </p:spTree>
    <p:extLst>
      <p:ext uri="{BB962C8B-B14F-4D97-AF65-F5344CB8AC3E}">
        <p14:creationId xmlns:p14="http://schemas.microsoft.com/office/powerpoint/2010/main" val="569394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AFA81-82FF-58CC-8523-EE3DD2AE1B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13D9031-EC7F-CB17-9E7A-7DD9B9A74F72}"/>
              </a:ext>
            </a:extLst>
          </p:cNvPr>
          <p:cNvSpPr>
            <a:spLocks noGrp="1"/>
          </p:cNvSpPr>
          <p:nvPr>
            <p:ph type="dt" sz="half" idx="10"/>
          </p:nvPr>
        </p:nvSpPr>
        <p:spPr/>
        <p:txBody>
          <a:bodyPr/>
          <a:lstStyle/>
          <a:p>
            <a:fld id="{0E617308-C754-4D22-8800-89BDE01B9443}" type="datetimeFigureOut">
              <a:rPr lang="en-US" smtClean="0"/>
              <a:t>8/7/2026</a:t>
            </a:fld>
            <a:endParaRPr lang="en-US"/>
          </a:p>
        </p:txBody>
      </p:sp>
      <p:sp>
        <p:nvSpPr>
          <p:cNvPr id="4" name="Footer Placeholder 3">
            <a:extLst>
              <a:ext uri="{FF2B5EF4-FFF2-40B4-BE49-F238E27FC236}">
                <a16:creationId xmlns:a16="http://schemas.microsoft.com/office/drawing/2014/main" id="{595EB329-D12A-4054-22FA-D95EB8300F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86084E-269C-4FDD-74FB-AC77C5363944}"/>
              </a:ext>
            </a:extLst>
          </p:cNvPr>
          <p:cNvSpPr>
            <a:spLocks noGrp="1"/>
          </p:cNvSpPr>
          <p:nvPr>
            <p:ph type="sldNum" sz="quarter" idx="12"/>
          </p:nvPr>
        </p:nvSpPr>
        <p:spPr/>
        <p:txBody>
          <a:bodyPr/>
          <a:lstStyle/>
          <a:p>
            <a:fld id="{806D8FFD-70AB-4992-A4CE-3F53F7571332}" type="slidenum">
              <a:rPr lang="en-US" smtClean="0"/>
              <a:t>‹#›</a:t>
            </a:fld>
            <a:endParaRPr lang="en-US"/>
          </a:p>
        </p:txBody>
      </p:sp>
    </p:spTree>
    <p:extLst>
      <p:ext uri="{BB962C8B-B14F-4D97-AF65-F5344CB8AC3E}">
        <p14:creationId xmlns:p14="http://schemas.microsoft.com/office/powerpoint/2010/main" val="658807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B40103-3C66-7A95-198B-2AAB0A0B2EA5}"/>
              </a:ext>
            </a:extLst>
          </p:cNvPr>
          <p:cNvSpPr>
            <a:spLocks noGrp="1"/>
          </p:cNvSpPr>
          <p:nvPr>
            <p:ph type="dt" sz="half" idx="10"/>
          </p:nvPr>
        </p:nvSpPr>
        <p:spPr/>
        <p:txBody>
          <a:bodyPr/>
          <a:lstStyle/>
          <a:p>
            <a:fld id="{0E617308-C754-4D22-8800-89BDE01B9443}" type="datetimeFigureOut">
              <a:rPr lang="en-US" smtClean="0"/>
              <a:t>8/7/2026</a:t>
            </a:fld>
            <a:endParaRPr lang="en-US"/>
          </a:p>
        </p:txBody>
      </p:sp>
      <p:sp>
        <p:nvSpPr>
          <p:cNvPr id="3" name="Footer Placeholder 2">
            <a:extLst>
              <a:ext uri="{FF2B5EF4-FFF2-40B4-BE49-F238E27FC236}">
                <a16:creationId xmlns:a16="http://schemas.microsoft.com/office/drawing/2014/main" id="{1BA8DA4D-8EC4-6F0D-882E-AB4F57CE84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7957C5B-161A-B982-69E7-E2953AA0F33C}"/>
              </a:ext>
            </a:extLst>
          </p:cNvPr>
          <p:cNvSpPr>
            <a:spLocks noGrp="1"/>
          </p:cNvSpPr>
          <p:nvPr>
            <p:ph type="sldNum" sz="quarter" idx="12"/>
          </p:nvPr>
        </p:nvSpPr>
        <p:spPr/>
        <p:txBody>
          <a:bodyPr/>
          <a:lstStyle/>
          <a:p>
            <a:fld id="{806D8FFD-70AB-4992-A4CE-3F53F7571332}" type="slidenum">
              <a:rPr lang="en-US" smtClean="0"/>
              <a:t>‹#›</a:t>
            </a:fld>
            <a:endParaRPr lang="en-US"/>
          </a:p>
        </p:txBody>
      </p:sp>
    </p:spTree>
    <p:extLst>
      <p:ext uri="{BB962C8B-B14F-4D97-AF65-F5344CB8AC3E}">
        <p14:creationId xmlns:p14="http://schemas.microsoft.com/office/powerpoint/2010/main" val="3051752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E8636-B37D-5397-5861-6BE04D8EEC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90B2725-FC65-36A2-3D87-22F30C085F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836D6BC-3804-9F25-1F1B-C3BD1643C1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51D4BF-6F74-D115-7BA7-1DC244E3FEC8}"/>
              </a:ext>
            </a:extLst>
          </p:cNvPr>
          <p:cNvSpPr>
            <a:spLocks noGrp="1"/>
          </p:cNvSpPr>
          <p:nvPr>
            <p:ph type="dt" sz="half" idx="10"/>
          </p:nvPr>
        </p:nvSpPr>
        <p:spPr/>
        <p:txBody>
          <a:bodyPr/>
          <a:lstStyle/>
          <a:p>
            <a:fld id="{0E617308-C754-4D22-8800-89BDE01B9443}" type="datetimeFigureOut">
              <a:rPr lang="en-US" smtClean="0"/>
              <a:t>8/7/2026</a:t>
            </a:fld>
            <a:endParaRPr lang="en-US"/>
          </a:p>
        </p:txBody>
      </p:sp>
      <p:sp>
        <p:nvSpPr>
          <p:cNvPr id="6" name="Footer Placeholder 5">
            <a:extLst>
              <a:ext uri="{FF2B5EF4-FFF2-40B4-BE49-F238E27FC236}">
                <a16:creationId xmlns:a16="http://schemas.microsoft.com/office/drawing/2014/main" id="{984647D1-0C1D-EF7A-084F-FDF763E50F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85EEF4-8F50-1286-504A-EDCF7CB7D6D8}"/>
              </a:ext>
            </a:extLst>
          </p:cNvPr>
          <p:cNvSpPr>
            <a:spLocks noGrp="1"/>
          </p:cNvSpPr>
          <p:nvPr>
            <p:ph type="sldNum" sz="quarter" idx="12"/>
          </p:nvPr>
        </p:nvSpPr>
        <p:spPr/>
        <p:txBody>
          <a:bodyPr/>
          <a:lstStyle/>
          <a:p>
            <a:fld id="{806D8FFD-70AB-4992-A4CE-3F53F7571332}" type="slidenum">
              <a:rPr lang="en-US" smtClean="0"/>
              <a:t>‹#›</a:t>
            </a:fld>
            <a:endParaRPr lang="en-US"/>
          </a:p>
        </p:txBody>
      </p:sp>
    </p:spTree>
    <p:extLst>
      <p:ext uri="{BB962C8B-B14F-4D97-AF65-F5344CB8AC3E}">
        <p14:creationId xmlns:p14="http://schemas.microsoft.com/office/powerpoint/2010/main" val="582207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3024C-7652-E1E1-92EB-FBAA90AA81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AF756F-26D3-1F91-2D57-305CBBA2DC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73635C-D550-2A5A-2844-ABCAC06B74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DCAF85-FCCC-F2CE-FF6D-D0587A575196}"/>
              </a:ext>
            </a:extLst>
          </p:cNvPr>
          <p:cNvSpPr>
            <a:spLocks noGrp="1"/>
          </p:cNvSpPr>
          <p:nvPr>
            <p:ph type="dt" sz="half" idx="10"/>
          </p:nvPr>
        </p:nvSpPr>
        <p:spPr/>
        <p:txBody>
          <a:bodyPr/>
          <a:lstStyle/>
          <a:p>
            <a:fld id="{0E617308-C754-4D22-8800-89BDE01B9443}" type="datetimeFigureOut">
              <a:rPr lang="en-US" smtClean="0"/>
              <a:t>8/7/2026</a:t>
            </a:fld>
            <a:endParaRPr lang="en-US"/>
          </a:p>
        </p:txBody>
      </p:sp>
      <p:sp>
        <p:nvSpPr>
          <p:cNvPr id="6" name="Footer Placeholder 5">
            <a:extLst>
              <a:ext uri="{FF2B5EF4-FFF2-40B4-BE49-F238E27FC236}">
                <a16:creationId xmlns:a16="http://schemas.microsoft.com/office/drawing/2014/main" id="{779B31F1-9153-4BE1-3276-7403DB41EE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2E726E-36D3-4709-8926-C587AC98B363}"/>
              </a:ext>
            </a:extLst>
          </p:cNvPr>
          <p:cNvSpPr>
            <a:spLocks noGrp="1"/>
          </p:cNvSpPr>
          <p:nvPr>
            <p:ph type="sldNum" sz="quarter" idx="12"/>
          </p:nvPr>
        </p:nvSpPr>
        <p:spPr/>
        <p:txBody>
          <a:bodyPr/>
          <a:lstStyle/>
          <a:p>
            <a:fld id="{806D8FFD-70AB-4992-A4CE-3F53F7571332}" type="slidenum">
              <a:rPr lang="en-US" smtClean="0"/>
              <a:t>‹#›</a:t>
            </a:fld>
            <a:endParaRPr lang="en-US"/>
          </a:p>
        </p:txBody>
      </p:sp>
    </p:spTree>
    <p:extLst>
      <p:ext uri="{BB962C8B-B14F-4D97-AF65-F5344CB8AC3E}">
        <p14:creationId xmlns:p14="http://schemas.microsoft.com/office/powerpoint/2010/main" val="1366121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49497-1423-C4F1-39AD-276E153865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3FD4BD-6FC9-FDD1-112F-1E17916B84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3E9453-218F-953F-3770-D811AD8E3262}"/>
              </a:ext>
            </a:extLst>
          </p:cNvPr>
          <p:cNvSpPr>
            <a:spLocks noGrp="1"/>
          </p:cNvSpPr>
          <p:nvPr>
            <p:ph type="dt" sz="half" idx="10"/>
          </p:nvPr>
        </p:nvSpPr>
        <p:spPr/>
        <p:txBody>
          <a:bodyPr/>
          <a:lstStyle/>
          <a:p>
            <a:fld id="{0E617308-C754-4D22-8800-89BDE01B9443}" type="datetimeFigureOut">
              <a:rPr lang="en-US" smtClean="0"/>
              <a:t>8/7/2026</a:t>
            </a:fld>
            <a:endParaRPr lang="en-US"/>
          </a:p>
        </p:txBody>
      </p:sp>
      <p:sp>
        <p:nvSpPr>
          <p:cNvPr id="5" name="Footer Placeholder 4">
            <a:extLst>
              <a:ext uri="{FF2B5EF4-FFF2-40B4-BE49-F238E27FC236}">
                <a16:creationId xmlns:a16="http://schemas.microsoft.com/office/drawing/2014/main" id="{4C6C489A-E769-BF6B-3460-04951112F0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AF8D18-3DF9-B116-83D2-A1083C30DC2C}"/>
              </a:ext>
            </a:extLst>
          </p:cNvPr>
          <p:cNvSpPr>
            <a:spLocks noGrp="1"/>
          </p:cNvSpPr>
          <p:nvPr>
            <p:ph type="sldNum" sz="quarter" idx="12"/>
          </p:nvPr>
        </p:nvSpPr>
        <p:spPr/>
        <p:txBody>
          <a:bodyPr/>
          <a:lstStyle/>
          <a:p>
            <a:fld id="{806D8FFD-70AB-4992-A4CE-3F53F7571332}" type="slidenum">
              <a:rPr lang="en-US" smtClean="0"/>
              <a:t>‹#›</a:t>
            </a:fld>
            <a:endParaRPr lang="en-US"/>
          </a:p>
        </p:txBody>
      </p:sp>
    </p:spTree>
    <p:extLst>
      <p:ext uri="{BB962C8B-B14F-4D97-AF65-F5344CB8AC3E}">
        <p14:creationId xmlns:p14="http://schemas.microsoft.com/office/powerpoint/2010/main" val="266368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743CC9-9D57-A690-9FE4-046CE368451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25B570B-0B7F-C2A9-DEB7-405F7C40D4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5A9D33-76E6-BC2D-516D-FF0241A47205}"/>
              </a:ext>
            </a:extLst>
          </p:cNvPr>
          <p:cNvSpPr>
            <a:spLocks noGrp="1"/>
          </p:cNvSpPr>
          <p:nvPr>
            <p:ph type="dt" sz="half" idx="10"/>
          </p:nvPr>
        </p:nvSpPr>
        <p:spPr/>
        <p:txBody>
          <a:bodyPr/>
          <a:lstStyle/>
          <a:p>
            <a:fld id="{0E617308-C754-4D22-8800-89BDE01B9443}" type="datetimeFigureOut">
              <a:rPr lang="en-US" smtClean="0"/>
              <a:t>8/7/2026</a:t>
            </a:fld>
            <a:endParaRPr lang="en-US"/>
          </a:p>
        </p:txBody>
      </p:sp>
      <p:sp>
        <p:nvSpPr>
          <p:cNvPr id="5" name="Footer Placeholder 4">
            <a:extLst>
              <a:ext uri="{FF2B5EF4-FFF2-40B4-BE49-F238E27FC236}">
                <a16:creationId xmlns:a16="http://schemas.microsoft.com/office/drawing/2014/main" id="{1AF49D42-F771-EED8-BC0A-B1E6AEBDC8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7A5A2D-187C-FC48-213E-4D34D944F38D}"/>
              </a:ext>
            </a:extLst>
          </p:cNvPr>
          <p:cNvSpPr>
            <a:spLocks noGrp="1"/>
          </p:cNvSpPr>
          <p:nvPr>
            <p:ph type="sldNum" sz="quarter" idx="12"/>
          </p:nvPr>
        </p:nvSpPr>
        <p:spPr/>
        <p:txBody>
          <a:bodyPr/>
          <a:lstStyle/>
          <a:p>
            <a:fld id="{806D8FFD-70AB-4992-A4CE-3F53F7571332}" type="slidenum">
              <a:rPr lang="en-US" smtClean="0"/>
              <a:t>‹#›</a:t>
            </a:fld>
            <a:endParaRPr lang="en-US"/>
          </a:p>
        </p:txBody>
      </p:sp>
    </p:spTree>
    <p:extLst>
      <p:ext uri="{BB962C8B-B14F-4D97-AF65-F5344CB8AC3E}">
        <p14:creationId xmlns:p14="http://schemas.microsoft.com/office/powerpoint/2010/main" val="260839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C4F41F-2B60-4292-710E-BA495136B6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52C4ACB-0163-48E7-8DBD-F981801E41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C99E7E-9BD9-84B5-D39C-7C3D52C266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617308-C754-4D22-8800-89BDE01B9443}" type="datetimeFigureOut">
              <a:rPr lang="en-US" smtClean="0"/>
              <a:t>8/7/2026</a:t>
            </a:fld>
            <a:endParaRPr lang="en-US"/>
          </a:p>
        </p:txBody>
      </p:sp>
      <p:sp>
        <p:nvSpPr>
          <p:cNvPr id="5" name="Footer Placeholder 4">
            <a:extLst>
              <a:ext uri="{FF2B5EF4-FFF2-40B4-BE49-F238E27FC236}">
                <a16:creationId xmlns:a16="http://schemas.microsoft.com/office/drawing/2014/main" id="{45EED445-DB67-0FBB-B15C-CBEBA1A534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54AF412-8C55-CC87-E7F9-2BFAD3030E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6D8FFD-70AB-4992-A4CE-3F53F7571332}" type="slidenum">
              <a:rPr lang="en-US" smtClean="0"/>
              <a:t>‹#›</a:t>
            </a:fld>
            <a:endParaRPr lang="en-US"/>
          </a:p>
        </p:txBody>
      </p:sp>
    </p:spTree>
    <p:extLst>
      <p:ext uri="{BB962C8B-B14F-4D97-AF65-F5344CB8AC3E}">
        <p14:creationId xmlns:p14="http://schemas.microsoft.com/office/powerpoint/2010/main" val="2574834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5" descr="C:\Users\User\Desktop\3.png">
            <a:extLst>
              <a:ext uri="{FF2B5EF4-FFF2-40B4-BE49-F238E27FC236}">
                <a16:creationId xmlns:a16="http://schemas.microsoft.com/office/drawing/2014/main" id="{9238D367-61A1-3220-5BE5-BE3FCF1849AC}"/>
              </a:ext>
            </a:extLst>
          </p:cNvPr>
          <p:cNvPicPr>
            <a:picLocks noChangeAspect="1" noChangeArrowheads="1"/>
          </p:cNvPicPr>
          <p:nvPr/>
        </p:nvPicPr>
        <p:blipFill>
          <a:blip r:embed="rId2"/>
          <a:srcRect t="9283"/>
          <a:stretch/>
        </p:blipFill>
        <p:spPr bwMode="auto">
          <a:xfrm>
            <a:off x="-14021" y="0"/>
            <a:ext cx="12220042" cy="6235700"/>
          </a:xfrm>
          <a:prstGeom prst="rect">
            <a:avLst/>
          </a:prstGeom>
          <a:noFill/>
        </p:spPr>
      </p:pic>
      <p:sp>
        <p:nvSpPr>
          <p:cNvPr id="6" name="TextBox 5">
            <a:extLst>
              <a:ext uri="{FF2B5EF4-FFF2-40B4-BE49-F238E27FC236}">
                <a16:creationId xmlns:a16="http://schemas.microsoft.com/office/drawing/2014/main" id="{33BB4D1A-A5D0-3FE3-85A0-620A771A5D4C}"/>
              </a:ext>
            </a:extLst>
          </p:cNvPr>
          <p:cNvSpPr txBox="1"/>
          <p:nvPr/>
        </p:nvSpPr>
        <p:spPr>
          <a:xfrm>
            <a:off x="288036" y="6404136"/>
            <a:ext cx="4294019" cy="276999"/>
          </a:xfrm>
          <a:prstGeom prst="rect">
            <a:avLst/>
          </a:prstGeom>
          <a:noFill/>
        </p:spPr>
        <p:txBody>
          <a:bodyPr wrap="square">
            <a:spAutoFit/>
          </a:bodyPr>
          <a:lstStyle/>
          <a:p>
            <a:r>
              <a:rPr lang="en-US" sz="1200" b="1" dirty="0">
                <a:solidFill>
                  <a:schemeClr val="tx2">
                    <a:lumMod val="75000"/>
                    <a:lumOff val="25000"/>
                  </a:schemeClr>
                </a:solidFill>
                <a:latin typeface="Aptos" panose="020B0004020202020204" pitchFamily="34" charset="0"/>
              </a:rPr>
              <a:t>Lithicon R&amp;D Labs and Affiliates. All Rights Reserved. </a:t>
            </a:r>
          </a:p>
        </p:txBody>
      </p:sp>
      <p:sp>
        <p:nvSpPr>
          <p:cNvPr id="10" name="Title 1">
            <a:extLst>
              <a:ext uri="{FF2B5EF4-FFF2-40B4-BE49-F238E27FC236}">
                <a16:creationId xmlns:a16="http://schemas.microsoft.com/office/drawing/2014/main" id="{5A734548-A8DC-7423-CEEB-EFA10752622A}"/>
              </a:ext>
            </a:extLst>
          </p:cNvPr>
          <p:cNvSpPr txBox="1">
            <a:spLocks/>
          </p:cNvSpPr>
          <p:nvPr/>
        </p:nvSpPr>
        <p:spPr>
          <a:xfrm>
            <a:off x="3319272" y="405597"/>
            <a:ext cx="6601969" cy="79226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000" dirty="0">
                <a:solidFill>
                  <a:schemeClr val="accent4">
                    <a:lumMod val="50000"/>
                  </a:schemeClr>
                </a:solidFill>
                <a:latin typeface="Bernard MT Condensed" panose="02050806060905020404" pitchFamily="18" charset="0"/>
              </a:rPr>
              <a:t>Driving Economic Transformation in Africa Through Electrification</a:t>
            </a:r>
          </a:p>
        </p:txBody>
      </p:sp>
      <p:pic>
        <p:nvPicPr>
          <p:cNvPr id="5" name="Picture 4" descr="A logo of a company&#10;&#10;Description automatically generated">
            <a:extLst>
              <a:ext uri="{FF2B5EF4-FFF2-40B4-BE49-F238E27FC236}">
                <a16:creationId xmlns:a16="http://schemas.microsoft.com/office/drawing/2014/main" id="{9B6EC11A-9561-F5C7-68BC-950F1450465F}"/>
              </a:ext>
            </a:extLst>
          </p:cNvPr>
          <p:cNvPicPr>
            <a:picLocks noChangeAspect="1"/>
          </p:cNvPicPr>
          <p:nvPr/>
        </p:nvPicPr>
        <p:blipFill>
          <a:blip r:embed="rId3"/>
          <a:stretch>
            <a:fillRect/>
          </a:stretch>
        </p:blipFill>
        <p:spPr>
          <a:xfrm>
            <a:off x="9592056" y="147196"/>
            <a:ext cx="2311908" cy="1366361"/>
          </a:xfrm>
          <a:prstGeom prst="rect">
            <a:avLst/>
          </a:prstGeom>
        </p:spPr>
      </p:pic>
      <p:pic>
        <p:nvPicPr>
          <p:cNvPr id="4" name="Picture 3">
            <a:extLst>
              <a:ext uri="{FF2B5EF4-FFF2-40B4-BE49-F238E27FC236}">
                <a16:creationId xmlns:a16="http://schemas.microsoft.com/office/drawing/2014/main" id="{21581D0B-E3F7-CA04-0708-7AAA728C7757}"/>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8036" y="57468"/>
            <a:ext cx="3360420" cy="2738368"/>
          </a:xfrm>
          <a:prstGeom prst="rect">
            <a:avLst/>
          </a:prstGeom>
          <a:noFill/>
          <a:ln>
            <a:noFill/>
          </a:ln>
        </p:spPr>
      </p:pic>
    </p:spTree>
    <p:extLst>
      <p:ext uri="{BB962C8B-B14F-4D97-AF65-F5344CB8AC3E}">
        <p14:creationId xmlns:p14="http://schemas.microsoft.com/office/powerpoint/2010/main" val="1876249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106AA7-01C5-D7EC-303B-B743FAC9239D}"/>
              </a:ext>
            </a:extLst>
          </p:cNvPr>
          <p:cNvSpPr txBox="1"/>
          <p:nvPr/>
        </p:nvSpPr>
        <p:spPr>
          <a:xfrm>
            <a:off x="1245108" y="720126"/>
            <a:ext cx="9701784" cy="2862322"/>
          </a:xfrm>
          <a:prstGeom prst="rect">
            <a:avLst/>
          </a:prstGeom>
          <a:noFill/>
        </p:spPr>
        <p:txBody>
          <a:bodyPr wrap="square">
            <a:spAutoFit/>
          </a:bodyPr>
          <a:lstStyle/>
          <a:p>
            <a:r>
              <a:rPr lang="en-US" dirty="0"/>
              <a:t>About Us</a:t>
            </a:r>
          </a:p>
          <a:p>
            <a:r>
              <a:rPr lang="en-US" dirty="0"/>
              <a:t>In response to rising electricity demand driven by industrial growth and population increase,</a:t>
            </a:r>
          </a:p>
          <a:p>
            <a:r>
              <a:rPr lang="en-US" dirty="0"/>
              <a:t>Lithicon aims to play a critical role in assisting to electrify Africa and other emerging regions. As</a:t>
            </a:r>
          </a:p>
          <a:p>
            <a:r>
              <a:rPr lang="en-US" dirty="0"/>
              <a:t>an energy service company, Lithicon offers reliable and affordable energy solutions to</a:t>
            </a:r>
          </a:p>
          <a:p>
            <a:r>
              <a:rPr lang="en-US" dirty="0"/>
              <a:t>commercial and industrial customers in emerging markets. We offer scalable energy systems</a:t>
            </a:r>
          </a:p>
          <a:p>
            <a:r>
              <a:rPr lang="en-US" dirty="0"/>
              <a:t>tailored for local conditions, offering both power generation and energy storage plus asset</a:t>
            </a:r>
          </a:p>
          <a:p>
            <a:r>
              <a:rPr lang="en-US" dirty="0"/>
              <a:t>leasing solutions to customers. As an advantage, our energy solutions allow customers to</a:t>
            </a:r>
          </a:p>
          <a:p>
            <a:r>
              <a:rPr lang="en-US" dirty="0"/>
              <a:t>replace costly diesel generators to mitigate carbon emissions while reducing costs.</a:t>
            </a:r>
          </a:p>
          <a:p>
            <a:endParaRPr lang="en-US" dirty="0"/>
          </a:p>
          <a:p>
            <a:r>
              <a:rPr lang="en-US" dirty="0"/>
              <a:t>Record videos</a:t>
            </a:r>
          </a:p>
        </p:txBody>
      </p:sp>
    </p:spTree>
    <p:extLst>
      <p:ext uri="{BB962C8B-B14F-4D97-AF65-F5344CB8AC3E}">
        <p14:creationId xmlns:p14="http://schemas.microsoft.com/office/powerpoint/2010/main" val="1571876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AF39EB-B790-E7B8-DBFF-C725EB3B4400}"/>
              </a:ext>
            </a:extLst>
          </p:cNvPr>
          <p:cNvSpPr txBox="1"/>
          <p:nvPr/>
        </p:nvSpPr>
        <p:spPr>
          <a:xfrm>
            <a:off x="905256" y="699159"/>
            <a:ext cx="9966960" cy="2862322"/>
          </a:xfrm>
          <a:prstGeom prst="rect">
            <a:avLst/>
          </a:prstGeom>
          <a:noFill/>
        </p:spPr>
        <p:txBody>
          <a:bodyPr wrap="square">
            <a:spAutoFit/>
          </a:bodyPr>
          <a:lstStyle/>
          <a:p>
            <a:r>
              <a:rPr lang="en-US" b="1" dirty="0"/>
              <a:t>Products and Services</a:t>
            </a:r>
          </a:p>
          <a:p>
            <a:r>
              <a:rPr lang="en-US" dirty="0"/>
              <a:t>We offer scalable power generation and energy storage solutions to support applications in</a:t>
            </a:r>
          </a:p>
          <a:p>
            <a:r>
              <a:rPr lang="en-US" dirty="0"/>
              <a:t>commercial &amp;amp; industrial settings, including commercial facilities, manufacturing plants, mining installations, data centers and other facilities such as schools, health centers and charging</a:t>
            </a:r>
          </a:p>
          <a:p>
            <a:r>
              <a:rPr lang="en-US" dirty="0"/>
              <a:t>stations for electric motorcycles. Also, we support rural electrification efforts by developing solar</a:t>
            </a:r>
          </a:p>
          <a:p>
            <a:r>
              <a:rPr lang="en-US" dirty="0"/>
              <a:t>PV microgrids in remote areas to provide reliable and affordable electricity for community use</a:t>
            </a:r>
          </a:p>
          <a:p>
            <a:r>
              <a:rPr lang="en-US" dirty="0"/>
              <a:t>and rural industrialization.</a:t>
            </a:r>
          </a:p>
          <a:p>
            <a:r>
              <a:rPr lang="en-US" dirty="0"/>
              <a:t>Further, Lithicon also offers grid infrastructure services including capacity and ancillary services</a:t>
            </a:r>
          </a:p>
          <a:p>
            <a:r>
              <a:rPr lang="en-US" dirty="0"/>
              <a:t>such as frequency regulation, voltage control, fault current support, reserves management,</a:t>
            </a:r>
          </a:p>
          <a:p>
            <a:r>
              <a:rPr lang="en-US" dirty="0"/>
              <a:t>congestion relief and other services to support grid stability.</a:t>
            </a:r>
          </a:p>
        </p:txBody>
      </p:sp>
    </p:spTree>
    <p:extLst>
      <p:ext uri="{BB962C8B-B14F-4D97-AF65-F5344CB8AC3E}">
        <p14:creationId xmlns:p14="http://schemas.microsoft.com/office/powerpoint/2010/main" val="3633492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A17BBF-8E8D-FF2F-CAE6-8D36EDEBDFBA}"/>
              </a:ext>
            </a:extLst>
          </p:cNvPr>
          <p:cNvSpPr txBox="1"/>
          <p:nvPr/>
        </p:nvSpPr>
        <p:spPr>
          <a:xfrm>
            <a:off x="356616" y="197346"/>
            <a:ext cx="10780776" cy="4524315"/>
          </a:xfrm>
          <a:prstGeom prst="rect">
            <a:avLst/>
          </a:prstGeom>
          <a:noFill/>
        </p:spPr>
        <p:txBody>
          <a:bodyPr wrap="square">
            <a:spAutoFit/>
          </a:bodyPr>
          <a:lstStyle/>
          <a:p>
            <a:r>
              <a:rPr lang="en-US" dirty="0"/>
              <a:t>As a trusted energy service provider and system integrator, Lithicon brings local knowledge and</a:t>
            </a:r>
          </a:p>
          <a:p>
            <a:r>
              <a:rPr lang="en-US" dirty="0"/>
              <a:t>service expertise to projects, allowing for efficient installation and responsive support. Our</a:t>
            </a:r>
          </a:p>
          <a:p>
            <a:r>
              <a:rPr lang="en-US" dirty="0"/>
              <a:t>power generation and energy storage solutions include performance guarantees to ensure</a:t>
            </a:r>
          </a:p>
          <a:p>
            <a:r>
              <a:rPr lang="en-US" dirty="0"/>
              <a:t>customers get value for money while minimizing downtime and costs. Our energy services</a:t>
            </a:r>
          </a:p>
          <a:p>
            <a:r>
              <a:rPr lang="en-US" dirty="0"/>
              <a:t>include:</a:t>
            </a:r>
          </a:p>
          <a:p>
            <a:pPr marL="285750" indent="-285750">
              <a:buFont typeface="Wingdings" panose="05000000000000000000" pitchFamily="2" charset="2"/>
              <a:buChar char="§"/>
            </a:pPr>
            <a:r>
              <a:rPr lang="en-US" dirty="0"/>
              <a:t> Provision of backup power support to maintain critical operations during power outages by</a:t>
            </a:r>
          </a:p>
          <a:p>
            <a:r>
              <a:rPr lang="en-US" dirty="0"/>
              <a:t>supplying uninterrupted electricity from high-performance battery energy storage systems</a:t>
            </a:r>
          </a:p>
          <a:p>
            <a:r>
              <a:rPr lang="en-US" dirty="0"/>
              <a:t>connected to solar PV or other reliable power source.</a:t>
            </a:r>
          </a:p>
          <a:p>
            <a:pPr marL="285750" indent="-285750">
              <a:buFont typeface="Wingdings" panose="05000000000000000000" pitchFamily="2" charset="2"/>
              <a:buChar char="§"/>
            </a:pPr>
            <a:r>
              <a:rPr lang="en-US" dirty="0"/>
              <a:t>Provision of off-grid power solution by pairing solar PV with battery energy systems, especially in remote areas without grid access.</a:t>
            </a:r>
          </a:p>
          <a:p>
            <a:pPr marL="285750" indent="-285750">
              <a:buFont typeface="Wingdings" panose="05000000000000000000" pitchFamily="2" charset="2"/>
              <a:buChar char="§"/>
            </a:pPr>
            <a:r>
              <a:rPr lang="en-US" dirty="0"/>
              <a:t> Renewable energy integration, allowing for storage of excess solar, wind and geothermal power</a:t>
            </a:r>
          </a:p>
          <a:p>
            <a:r>
              <a:rPr lang="en-US" dirty="0"/>
              <a:t>to minimize curtailment and maximize asset usage.</a:t>
            </a:r>
          </a:p>
          <a:p>
            <a:pPr marL="285750" indent="-285750">
              <a:buFont typeface="Wingdings" panose="05000000000000000000" pitchFamily="2" charset="2"/>
              <a:buChar char="§"/>
            </a:pPr>
            <a:r>
              <a:rPr lang="en-US" dirty="0"/>
              <a:t>Provision of grid ancillary services including frequency regulation, voltage control, fault-current</a:t>
            </a:r>
          </a:p>
          <a:p>
            <a:r>
              <a:rPr lang="en-US" dirty="0"/>
              <a:t>support and other critical services to maintain grid stability.</a:t>
            </a:r>
          </a:p>
          <a:p>
            <a:pPr marL="285750" indent="-285750">
              <a:buFont typeface="Wingdings" panose="05000000000000000000" pitchFamily="2" charset="2"/>
              <a:buChar char="§"/>
            </a:pPr>
            <a:r>
              <a:rPr lang="en-US" dirty="0"/>
              <a:t> Boosting grid capacity by deploying utility scale energy storage assets to minimize congestion</a:t>
            </a:r>
          </a:p>
          <a:p>
            <a:r>
              <a:rPr lang="en-US" dirty="0"/>
              <a:t>related costs along transmission corridors.</a:t>
            </a:r>
          </a:p>
        </p:txBody>
      </p:sp>
    </p:spTree>
    <p:extLst>
      <p:ext uri="{BB962C8B-B14F-4D97-AF65-F5344CB8AC3E}">
        <p14:creationId xmlns:p14="http://schemas.microsoft.com/office/powerpoint/2010/main" val="3806064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73CC0D-AB96-0973-B883-A425B1001A79}"/>
              </a:ext>
            </a:extLst>
          </p:cNvPr>
          <p:cNvSpPr txBox="1"/>
          <p:nvPr/>
        </p:nvSpPr>
        <p:spPr>
          <a:xfrm>
            <a:off x="1291589" y="733195"/>
            <a:ext cx="9317736" cy="461665"/>
          </a:xfrm>
          <a:prstGeom prst="rect">
            <a:avLst/>
          </a:prstGeom>
          <a:noFill/>
        </p:spPr>
        <p:txBody>
          <a:bodyPr wrap="square">
            <a:spAutoFit/>
          </a:bodyPr>
          <a:lstStyle/>
          <a:p>
            <a:pPr>
              <a:spcAft>
                <a:spcPts val="600"/>
              </a:spcAft>
            </a:pPr>
            <a:r>
              <a:rPr lang="en-US" sz="1200" dirty="0">
                <a:solidFill>
                  <a:schemeClr val="tx1">
                    <a:lumMod val="75000"/>
                    <a:lumOff val="25000"/>
                  </a:schemeClr>
                </a:solidFill>
                <a:effectLst/>
                <a:latin typeface="Aptos" panose="020B0004020202020204" pitchFamily="34" charset="0"/>
              </a:rPr>
              <a:t>Solar Microgrid Project </a:t>
            </a:r>
            <a:r>
              <a:rPr lang="en-US" sz="1200" dirty="0">
                <a:solidFill>
                  <a:schemeClr val="tx1">
                    <a:lumMod val="75000"/>
                    <a:lumOff val="25000"/>
                  </a:schemeClr>
                </a:solidFill>
                <a:latin typeface="Aptos" panose="020B0004020202020204" pitchFamily="34" charset="0"/>
              </a:rPr>
              <a:t>will provide reliable and affordable electricity to support community development </a:t>
            </a:r>
            <a:r>
              <a:rPr lang="en-US" sz="1200" dirty="0">
                <a:solidFill>
                  <a:schemeClr val="tx1">
                    <a:lumMod val="75000"/>
                    <a:lumOff val="25000"/>
                  </a:schemeClr>
                </a:solidFill>
                <a:effectLst/>
                <a:latin typeface="Aptos" panose="020B0004020202020204" pitchFamily="34" charset="0"/>
              </a:rPr>
              <a:t>and value addition activities in key sectors, especially </a:t>
            </a:r>
            <a:r>
              <a:rPr lang="en-US" sz="1200" dirty="0">
                <a:solidFill>
                  <a:schemeClr val="tx1">
                    <a:lumMod val="75000"/>
                    <a:lumOff val="25000"/>
                  </a:schemeClr>
                </a:solidFill>
                <a:latin typeface="Aptos" panose="020B0004020202020204" pitchFamily="34" charset="0"/>
              </a:rPr>
              <a:t>agriculture and fisheries in the region.</a:t>
            </a:r>
            <a:endParaRPr lang="en-US" altLang="zh-CN" sz="1200" dirty="0">
              <a:solidFill>
                <a:schemeClr val="tx1">
                  <a:lumMod val="75000"/>
                  <a:lumOff val="25000"/>
                </a:schemeClr>
              </a:solidFill>
              <a:latin typeface="Aptos" panose="020B0004020202020204" pitchFamily="34" charset="0"/>
            </a:endParaRPr>
          </a:p>
        </p:txBody>
      </p:sp>
      <p:pic>
        <p:nvPicPr>
          <p:cNvPr id="9" name="Picture 8">
            <a:extLst>
              <a:ext uri="{FF2B5EF4-FFF2-40B4-BE49-F238E27FC236}">
                <a16:creationId xmlns:a16="http://schemas.microsoft.com/office/drawing/2014/main" id="{ADC7261C-3EB7-14CA-672D-0BBE13A11232}"/>
              </a:ext>
            </a:extLst>
          </p:cNvPr>
          <p:cNvPicPr>
            <a:picLocks noChangeAspect="1"/>
          </p:cNvPicPr>
          <p:nvPr/>
        </p:nvPicPr>
        <p:blipFill>
          <a:blip r:embed="rId2"/>
          <a:stretch>
            <a:fillRect/>
          </a:stretch>
        </p:blipFill>
        <p:spPr>
          <a:xfrm>
            <a:off x="853759" y="1425169"/>
            <a:ext cx="5096698" cy="3070631"/>
          </a:xfrm>
          <a:prstGeom prst="rect">
            <a:avLst/>
          </a:prstGeom>
          <a:solidFill>
            <a:schemeClr val="bg1"/>
          </a:solidFill>
          <a:ln>
            <a:solidFill>
              <a:schemeClr val="accent2">
                <a:lumMod val="75000"/>
              </a:schemeClr>
            </a:solidFill>
          </a:ln>
        </p:spPr>
      </p:pic>
      <p:pic>
        <p:nvPicPr>
          <p:cNvPr id="11" name="Picture 10">
            <a:extLst>
              <a:ext uri="{FF2B5EF4-FFF2-40B4-BE49-F238E27FC236}">
                <a16:creationId xmlns:a16="http://schemas.microsoft.com/office/drawing/2014/main" id="{0C9081FA-01AB-A3BB-06FE-047B8C4E6990}"/>
              </a:ext>
            </a:extLst>
          </p:cNvPr>
          <p:cNvPicPr>
            <a:picLocks noChangeAspect="1"/>
          </p:cNvPicPr>
          <p:nvPr/>
        </p:nvPicPr>
        <p:blipFill>
          <a:blip r:embed="rId3"/>
          <a:stretch>
            <a:fillRect/>
          </a:stretch>
        </p:blipFill>
        <p:spPr>
          <a:xfrm>
            <a:off x="6241544" y="1425169"/>
            <a:ext cx="5378956" cy="3070631"/>
          </a:xfrm>
          <a:prstGeom prst="rect">
            <a:avLst/>
          </a:prstGeom>
        </p:spPr>
      </p:pic>
      <p:sp>
        <p:nvSpPr>
          <p:cNvPr id="13" name="TextBox 12">
            <a:extLst>
              <a:ext uri="{FF2B5EF4-FFF2-40B4-BE49-F238E27FC236}">
                <a16:creationId xmlns:a16="http://schemas.microsoft.com/office/drawing/2014/main" id="{1BB58321-0EE5-0D8B-94F6-898D308AA3A1}"/>
              </a:ext>
            </a:extLst>
          </p:cNvPr>
          <p:cNvSpPr txBox="1"/>
          <p:nvPr/>
        </p:nvSpPr>
        <p:spPr>
          <a:xfrm>
            <a:off x="1020932" y="4726109"/>
            <a:ext cx="5395208" cy="276999"/>
          </a:xfrm>
          <a:prstGeom prst="rect">
            <a:avLst/>
          </a:prstGeom>
          <a:noFill/>
        </p:spPr>
        <p:txBody>
          <a:bodyPr wrap="square">
            <a:spAutoFit/>
          </a:bodyPr>
          <a:lstStyle/>
          <a:p>
            <a:pPr algn="just">
              <a:spcAft>
                <a:spcPts val="600"/>
              </a:spcAft>
            </a:pPr>
            <a:r>
              <a:rPr lang="en-US" altLang="zh-CN" sz="1200" dirty="0">
                <a:solidFill>
                  <a:schemeClr val="tx1">
                    <a:lumMod val="75000"/>
                    <a:lumOff val="25000"/>
                  </a:schemeClr>
                </a:solidFill>
                <a:latin typeface="Aptos" panose="020B0004020202020204" pitchFamily="34" charset="0"/>
              </a:rPr>
              <a:t>Schematic of Proposed Solar PV Microgrid in Northern Uganda.</a:t>
            </a:r>
          </a:p>
        </p:txBody>
      </p:sp>
      <p:sp>
        <p:nvSpPr>
          <p:cNvPr id="15" name="TextBox 14">
            <a:extLst>
              <a:ext uri="{FF2B5EF4-FFF2-40B4-BE49-F238E27FC236}">
                <a16:creationId xmlns:a16="http://schemas.microsoft.com/office/drawing/2014/main" id="{E363B84C-597D-2FCB-F141-D2514CE84F40}"/>
              </a:ext>
            </a:extLst>
          </p:cNvPr>
          <p:cNvSpPr txBox="1"/>
          <p:nvPr/>
        </p:nvSpPr>
        <p:spPr>
          <a:xfrm>
            <a:off x="6173829" y="4541443"/>
            <a:ext cx="5795667" cy="646331"/>
          </a:xfrm>
          <a:prstGeom prst="rect">
            <a:avLst/>
          </a:prstGeom>
          <a:noFill/>
        </p:spPr>
        <p:txBody>
          <a:bodyPr wrap="square">
            <a:spAutoFit/>
          </a:bodyPr>
          <a:lstStyle/>
          <a:p>
            <a:pPr algn="just">
              <a:spcAft>
                <a:spcPts val="600"/>
              </a:spcAft>
            </a:pPr>
            <a:r>
              <a:rPr lang="en-US" altLang="zh-CN" sz="1200" dirty="0">
                <a:solidFill>
                  <a:schemeClr val="tx1">
                    <a:lumMod val="75000"/>
                    <a:lumOff val="25000"/>
                  </a:schemeClr>
                </a:solidFill>
                <a:latin typeface="Aptos" panose="020B0004020202020204" pitchFamily="34" charset="0"/>
              </a:rPr>
              <a:t>Proposed solar PV microgrid to support will support community development, irrigation agriculture and industrialization activities including agro-processing and fish production.</a:t>
            </a:r>
          </a:p>
        </p:txBody>
      </p:sp>
      <p:sp>
        <p:nvSpPr>
          <p:cNvPr id="17" name="TextBox 16">
            <a:extLst>
              <a:ext uri="{FF2B5EF4-FFF2-40B4-BE49-F238E27FC236}">
                <a16:creationId xmlns:a16="http://schemas.microsoft.com/office/drawing/2014/main" id="{39008D19-72E3-9A29-E7A6-505F5751909F}"/>
              </a:ext>
            </a:extLst>
          </p:cNvPr>
          <p:cNvSpPr txBox="1"/>
          <p:nvPr/>
        </p:nvSpPr>
        <p:spPr>
          <a:xfrm>
            <a:off x="3060103" y="248709"/>
            <a:ext cx="5320323" cy="369332"/>
          </a:xfrm>
          <a:prstGeom prst="rect">
            <a:avLst/>
          </a:prstGeom>
          <a:noFill/>
        </p:spPr>
        <p:txBody>
          <a:bodyPr wrap="square" rtlCol="0">
            <a:spAutoFit/>
          </a:bodyPr>
          <a:lstStyle/>
          <a:p>
            <a:r>
              <a:rPr lang="en-US" altLang="zh-CN" b="1" dirty="0">
                <a:solidFill>
                  <a:schemeClr val="tx2">
                    <a:lumMod val="75000"/>
                    <a:lumOff val="25000"/>
                  </a:schemeClr>
                </a:solidFill>
                <a:latin typeface="Aptos" panose="020B0004020202020204" pitchFamily="34" charset="0"/>
              </a:rPr>
              <a:t>Ongoing Solar Microgrid Project</a:t>
            </a:r>
            <a:endParaRPr lang="en-GB" b="1" dirty="0">
              <a:solidFill>
                <a:schemeClr val="tx2">
                  <a:lumMod val="75000"/>
                  <a:lumOff val="25000"/>
                </a:schemeClr>
              </a:solidFill>
              <a:latin typeface="Aptos" panose="020B0004020202020204" pitchFamily="34" charset="0"/>
            </a:endParaRPr>
          </a:p>
        </p:txBody>
      </p:sp>
    </p:spTree>
    <p:extLst>
      <p:ext uri="{BB962C8B-B14F-4D97-AF65-F5344CB8AC3E}">
        <p14:creationId xmlns:p14="http://schemas.microsoft.com/office/powerpoint/2010/main" val="128043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4E5AD5F-81FA-05C0-9411-206577CF017F}"/>
              </a:ext>
            </a:extLst>
          </p:cNvPr>
          <p:cNvPicPr>
            <a:picLocks noChangeAspect="1"/>
          </p:cNvPicPr>
          <p:nvPr/>
        </p:nvPicPr>
        <p:blipFill>
          <a:blip r:embed="rId2"/>
          <a:srcRect b="15352"/>
          <a:stretch/>
        </p:blipFill>
        <p:spPr>
          <a:xfrm>
            <a:off x="8467" y="-11089"/>
            <a:ext cx="12192000" cy="6880178"/>
          </a:xfrm>
          <a:prstGeom prst="rect">
            <a:avLst/>
          </a:prstGeom>
        </p:spPr>
      </p:pic>
      <p:sp>
        <p:nvSpPr>
          <p:cNvPr id="11" name="TextBox 10">
            <a:extLst>
              <a:ext uri="{FF2B5EF4-FFF2-40B4-BE49-F238E27FC236}">
                <a16:creationId xmlns:a16="http://schemas.microsoft.com/office/drawing/2014/main" id="{88CBBA2F-D146-CD27-C248-4C6CABE1B8FC}"/>
              </a:ext>
            </a:extLst>
          </p:cNvPr>
          <p:cNvSpPr txBox="1"/>
          <p:nvPr/>
        </p:nvSpPr>
        <p:spPr>
          <a:xfrm>
            <a:off x="8754121" y="2551517"/>
            <a:ext cx="2991812" cy="984885"/>
          </a:xfrm>
          <a:prstGeom prst="rect">
            <a:avLst/>
          </a:prstGeom>
          <a:noFill/>
        </p:spPr>
        <p:txBody>
          <a:bodyPr wrap="square">
            <a:spAutoFit/>
          </a:bodyPr>
          <a:lstStyle/>
          <a:p>
            <a:pPr algn="just"/>
            <a:r>
              <a:rPr lang="en-US" sz="1600" b="1" dirty="0">
                <a:solidFill>
                  <a:schemeClr val="bg1"/>
                </a:solidFill>
                <a:latin typeface="Arial" panose="020B0604020202020204" pitchFamily="34" charset="0"/>
                <a:cs typeface="Arial" panose="020B0604020202020204" pitchFamily="34" charset="0"/>
              </a:rPr>
              <a:t>Uganda-Affiliate</a:t>
            </a:r>
          </a:p>
          <a:p>
            <a:pPr algn="just"/>
            <a:r>
              <a:rPr lang="en-US" sz="1400" dirty="0">
                <a:solidFill>
                  <a:schemeClr val="bg1"/>
                </a:solidFill>
                <a:latin typeface="Arial" panose="020B0604020202020204" pitchFamily="34" charset="0"/>
                <a:cs typeface="Arial" panose="020B0604020202020204" pitchFamily="34" charset="0"/>
              </a:rPr>
              <a:t>Lithicon Technology Co. Limited</a:t>
            </a:r>
          </a:p>
          <a:p>
            <a:pPr algn="just"/>
            <a:r>
              <a:rPr lang="en-US" sz="1400" dirty="0">
                <a:solidFill>
                  <a:schemeClr val="bg1"/>
                </a:solidFill>
                <a:latin typeface="Arial" panose="020B0604020202020204" pitchFamily="34" charset="0"/>
                <a:cs typeface="Arial" panose="020B0604020202020204" pitchFamily="34" charset="0"/>
              </a:rPr>
              <a:t>Plot 11 Mpanga Close</a:t>
            </a:r>
          </a:p>
          <a:p>
            <a:pPr algn="just"/>
            <a:r>
              <a:rPr lang="en-US" sz="1400" dirty="0">
                <a:solidFill>
                  <a:schemeClr val="bg1"/>
                </a:solidFill>
                <a:latin typeface="Arial" panose="020B0604020202020204" pitchFamily="34" charset="0"/>
                <a:cs typeface="Arial" panose="020B0604020202020204" pitchFamily="34" charset="0"/>
              </a:rPr>
              <a:t>Bugolobi, Kampala</a:t>
            </a:r>
          </a:p>
        </p:txBody>
      </p:sp>
      <p:sp>
        <p:nvSpPr>
          <p:cNvPr id="13" name="TextBox 12">
            <a:extLst>
              <a:ext uri="{FF2B5EF4-FFF2-40B4-BE49-F238E27FC236}">
                <a16:creationId xmlns:a16="http://schemas.microsoft.com/office/drawing/2014/main" id="{F6CD68B9-5E5F-97A1-83BE-D63C4C7F5750}"/>
              </a:ext>
            </a:extLst>
          </p:cNvPr>
          <p:cNvSpPr txBox="1"/>
          <p:nvPr/>
        </p:nvSpPr>
        <p:spPr>
          <a:xfrm>
            <a:off x="69274" y="2646069"/>
            <a:ext cx="3209635" cy="984885"/>
          </a:xfrm>
          <a:prstGeom prst="rect">
            <a:avLst/>
          </a:prstGeom>
          <a:noFill/>
        </p:spPr>
        <p:txBody>
          <a:bodyPr wrap="square">
            <a:spAutoFit/>
          </a:bodyPr>
          <a:lstStyle/>
          <a:p>
            <a:pPr algn="just"/>
            <a:r>
              <a:rPr lang="en-US" sz="1600" b="1" dirty="0">
                <a:solidFill>
                  <a:schemeClr val="bg1"/>
                </a:solidFill>
                <a:latin typeface="Arial" panose="020B0604020202020204" pitchFamily="34" charset="0"/>
                <a:cs typeface="Arial" panose="020B0604020202020204" pitchFamily="34" charset="0"/>
              </a:rPr>
              <a:t>U.S.A –Parent Company</a:t>
            </a:r>
          </a:p>
          <a:p>
            <a:r>
              <a:rPr lang="en-US" sz="1400" dirty="0">
                <a:solidFill>
                  <a:schemeClr val="bg1"/>
                </a:solidFill>
                <a:latin typeface="Arial" panose="020B0604020202020204" pitchFamily="34" charset="0"/>
                <a:cs typeface="Arial" panose="020B0604020202020204" pitchFamily="34" charset="0"/>
              </a:rPr>
              <a:t>Lithicon R&amp;D Labs</a:t>
            </a:r>
          </a:p>
          <a:p>
            <a:r>
              <a:rPr lang="en-US" sz="1400" dirty="0">
                <a:solidFill>
                  <a:schemeClr val="bg1"/>
                </a:solidFill>
                <a:latin typeface="Arial" panose="020B0604020202020204" pitchFamily="34" charset="0"/>
                <a:cs typeface="Arial" panose="020B0604020202020204" pitchFamily="34" charset="0"/>
              </a:rPr>
              <a:t>10900 Research Blvd, Suite 160C</a:t>
            </a:r>
          </a:p>
          <a:p>
            <a:r>
              <a:rPr lang="en-US" sz="1400" dirty="0">
                <a:solidFill>
                  <a:schemeClr val="bg1"/>
                </a:solidFill>
                <a:latin typeface="Arial" panose="020B0604020202020204" pitchFamily="34" charset="0"/>
                <a:cs typeface="Arial" panose="020B0604020202020204" pitchFamily="34" charset="0"/>
              </a:rPr>
              <a:t>Austin, TX 78759</a:t>
            </a:r>
          </a:p>
        </p:txBody>
      </p:sp>
      <p:pic>
        <p:nvPicPr>
          <p:cNvPr id="19" name="Picture 18">
            <a:extLst>
              <a:ext uri="{FF2B5EF4-FFF2-40B4-BE49-F238E27FC236}">
                <a16:creationId xmlns:a16="http://schemas.microsoft.com/office/drawing/2014/main" id="{534FB8EE-CBA4-B3A5-DF2E-69D6C203D16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7818" y="141311"/>
            <a:ext cx="2941783" cy="2504758"/>
          </a:xfrm>
          <a:prstGeom prst="rect">
            <a:avLst/>
          </a:prstGeom>
          <a:noFill/>
          <a:ln>
            <a:noFill/>
          </a:ln>
        </p:spPr>
      </p:pic>
      <p:pic>
        <p:nvPicPr>
          <p:cNvPr id="21" name="Picture 20" descr="A logo of a company&#10;&#10;Description automatically generated">
            <a:extLst>
              <a:ext uri="{FF2B5EF4-FFF2-40B4-BE49-F238E27FC236}">
                <a16:creationId xmlns:a16="http://schemas.microsoft.com/office/drawing/2014/main" id="{CD483DBE-DBEB-3F45-F0CA-2D23F1AACE82}"/>
              </a:ext>
            </a:extLst>
          </p:cNvPr>
          <p:cNvPicPr>
            <a:picLocks noChangeAspect="1"/>
          </p:cNvPicPr>
          <p:nvPr/>
        </p:nvPicPr>
        <p:blipFill>
          <a:blip r:embed="rId4"/>
          <a:stretch>
            <a:fillRect/>
          </a:stretch>
        </p:blipFill>
        <p:spPr>
          <a:xfrm>
            <a:off x="8880049" y="-11089"/>
            <a:ext cx="3104133" cy="2521192"/>
          </a:xfrm>
          <a:prstGeom prst="rect">
            <a:avLst/>
          </a:prstGeom>
        </p:spPr>
      </p:pic>
      <p:sp>
        <p:nvSpPr>
          <p:cNvPr id="23" name="TextBox 22">
            <a:extLst>
              <a:ext uri="{FF2B5EF4-FFF2-40B4-BE49-F238E27FC236}">
                <a16:creationId xmlns:a16="http://schemas.microsoft.com/office/drawing/2014/main" id="{8F8CE614-EC34-C436-B593-849381B581FC}"/>
              </a:ext>
            </a:extLst>
          </p:cNvPr>
          <p:cNvSpPr txBox="1"/>
          <p:nvPr/>
        </p:nvSpPr>
        <p:spPr>
          <a:xfrm>
            <a:off x="3275529" y="1209024"/>
            <a:ext cx="5478592" cy="369332"/>
          </a:xfrm>
          <a:prstGeom prst="rect">
            <a:avLst/>
          </a:prstGeom>
          <a:noFill/>
        </p:spPr>
        <p:txBody>
          <a:bodyPr wrap="square">
            <a:spAutoFit/>
          </a:bodyPr>
          <a:lstStyle/>
          <a:p>
            <a:pPr algn="l"/>
            <a:r>
              <a:rPr lang="en-US" sz="1800" b="1" dirty="0">
                <a:solidFill>
                  <a:schemeClr val="bg1"/>
                </a:solidFill>
                <a:latin typeface="Libre Franklin" pitchFamily="2" charset="77"/>
              </a:rPr>
              <a:t>Meeting Future Energy Demand with Excellence</a:t>
            </a:r>
          </a:p>
        </p:txBody>
      </p:sp>
      <p:sp>
        <p:nvSpPr>
          <p:cNvPr id="25" name="Teardrop 24">
            <a:extLst>
              <a:ext uri="{FF2B5EF4-FFF2-40B4-BE49-F238E27FC236}">
                <a16:creationId xmlns:a16="http://schemas.microsoft.com/office/drawing/2014/main" id="{123126C8-3255-0C9A-B2C4-DECDA16875E8}"/>
              </a:ext>
            </a:extLst>
          </p:cNvPr>
          <p:cNvSpPr/>
          <p:nvPr/>
        </p:nvSpPr>
        <p:spPr>
          <a:xfrm>
            <a:off x="8276734" y="4206099"/>
            <a:ext cx="3906799" cy="2662990"/>
          </a:xfrm>
          <a:prstGeom prst="teardrop">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Contact </a:t>
            </a:r>
          </a:p>
          <a:p>
            <a:pPr algn="ctr"/>
            <a:r>
              <a:rPr lang="en-US" dirty="0"/>
              <a:t>info@lithiconrdlabs.com</a:t>
            </a:r>
          </a:p>
        </p:txBody>
      </p:sp>
    </p:spTree>
    <p:extLst>
      <p:ext uri="{BB962C8B-B14F-4D97-AF65-F5344CB8AC3E}">
        <p14:creationId xmlns:p14="http://schemas.microsoft.com/office/powerpoint/2010/main" val="956472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11732A-8396-4433-E447-F21D419CAD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857250"/>
            <a:ext cx="6858000" cy="5143500"/>
          </a:xfrm>
          <a:prstGeom prst="rect">
            <a:avLst/>
          </a:prstGeom>
        </p:spPr>
      </p:pic>
    </p:spTree>
    <p:extLst>
      <p:ext uri="{BB962C8B-B14F-4D97-AF65-F5344CB8AC3E}">
        <p14:creationId xmlns:p14="http://schemas.microsoft.com/office/powerpoint/2010/main" val="1567894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CB790D-1C6E-9F25-3C7E-7DB600246C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857250"/>
            <a:ext cx="6858000" cy="5143500"/>
          </a:xfrm>
          <a:prstGeom prst="rect">
            <a:avLst/>
          </a:prstGeom>
        </p:spPr>
      </p:pic>
    </p:spTree>
    <p:extLst>
      <p:ext uri="{BB962C8B-B14F-4D97-AF65-F5344CB8AC3E}">
        <p14:creationId xmlns:p14="http://schemas.microsoft.com/office/powerpoint/2010/main" val="198233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6E4819-264B-285D-F09E-66A4C0AC7A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857250"/>
            <a:ext cx="6858000" cy="5143500"/>
          </a:xfrm>
          <a:prstGeom prst="rect">
            <a:avLst/>
          </a:prstGeom>
        </p:spPr>
      </p:pic>
    </p:spTree>
    <p:extLst>
      <p:ext uri="{BB962C8B-B14F-4D97-AF65-F5344CB8AC3E}">
        <p14:creationId xmlns:p14="http://schemas.microsoft.com/office/powerpoint/2010/main" val="1746664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B1F341-A264-C382-529B-B560724045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154010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2D70AF-4241-9FA3-B425-370FC14970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857250"/>
            <a:ext cx="6858000" cy="5143500"/>
          </a:xfrm>
          <a:prstGeom prst="rect">
            <a:avLst/>
          </a:prstGeom>
        </p:spPr>
      </p:pic>
    </p:spTree>
    <p:extLst>
      <p:ext uri="{BB962C8B-B14F-4D97-AF65-F5344CB8AC3E}">
        <p14:creationId xmlns:p14="http://schemas.microsoft.com/office/powerpoint/2010/main" val="361993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8E575C-1C9D-3945-2D43-259B823290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857250"/>
            <a:ext cx="6858000" cy="5143500"/>
          </a:xfrm>
          <a:prstGeom prst="rect">
            <a:avLst/>
          </a:prstGeom>
        </p:spPr>
      </p:pic>
    </p:spTree>
    <p:extLst>
      <p:ext uri="{BB962C8B-B14F-4D97-AF65-F5344CB8AC3E}">
        <p14:creationId xmlns:p14="http://schemas.microsoft.com/office/powerpoint/2010/main" val="3802407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1FF0DE-2590-E06E-9FFC-4967DE5E5B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857250"/>
            <a:ext cx="6858000" cy="5143500"/>
          </a:xfrm>
          <a:prstGeom prst="rect">
            <a:avLst/>
          </a:prstGeom>
        </p:spPr>
      </p:pic>
    </p:spTree>
    <p:extLst>
      <p:ext uri="{BB962C8B-B14F-4D97-AF65-F5344CB8AC3E}">
        <p14:creationId xmlns:p14="http://schemas.microsoft.com/office/powerpoint/2010/main" val="1452930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0A1113-1F35-072C-313A-2837DFD0D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667000" y="857250"/>
            <a:ext cx="6858000" cy="5143500"/>
          </a:xfrm>
          <a:prstGeom prst="rect">
            <a:avLst/>
          </a:prstGeom>
        </p:spPr>
      </p:pic>
    </p:spTree>
    <p:extLst>
      <p:ext uri="{BB962C8B-B14F-4D97-AF65-F5344CB8AC3E}">
        <p14:creationId xmlns:p14="http://schemas.microsoft.com/office/powerpoint/2010/main" val="2926742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33EFF4-2AD1-32E4-5D91-E6C99E06AF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727" y="330199"/>
            <a:ext cx="5286235" cy="2962803"/>
          </a:xfrm>
          <a:prstGeom prst="rect">
            <a:avLst/>
          </a:prstGeom>
        </p:spPr>
      </p:pic>
      <p:sp>
        <p:nvSpPr>
          <p:cNvPr id="8" name="Rectangle 7">
            <a:extLst>
              <a:ext uri="{FF2B5EF4-FFF2-40B4-BE49-F238E27FC236}">
                <a16:creationId xmlns:a16="http://schemas.microsoft.com/office/drawing/2014/main" id="{63C3BE5B-665C-DAED-BE59-319415F27F06}"/>
              </a:ext>
            </a:extLst>
          </p:cNvPr>
          <p:cNvSpPr/>
          <p:nvPr/>
        </p:nvSpPr>
        <p:spPr>
          <a:xfrm>
            <a:off x="424392" y="209114"/>
            <a:ext cx="5392208" cy="321988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DD109E2-E2C9-8FC8-F7F6-2C47FA916816}"/>
              </a:ext>
            </a:extLst>
          </p:cNvPr>
          <p:cNvSpPr/>
          <p:nvPr/>
        </p:nvSpPr>
        <p:spPr>
          <a:xfrm>
            <a:off x="6029325" y="209114"/>
            <a:ext cx="5392208" cy="321988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770841E-2F55-60E0-5D8E-658C8B5B2B3B}"/>
              </a:ext>
            </a:extLst>
          </p:cNvPr>
          <p:cNvSpPr/>
          <p:nvPr/>
        </p:nvSpPr>
        <p:spPr>
          <a:xfrm>
            <a:off x="424392" y="3583952"/>
            <a:ext cx="5392208" cy="321988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B5275E9-DF32-FA23-1AB9-730FABDAE8B4}"/>
              </a:ext>
            </a:extLst>
          </p:cNvPr>
          <p:cNvSpPr/>
          <p:nvPr/>
        </p:nvSpPr>
        <p:spPr>
          <a:xfrm>
            <a:off x="6029325" y="3583951"/>
            <a:ext cx="5392208" cy="321988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80D9EA5C-996B-187C-FC98-CA85D56F20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2128" y="3809999"/>
            <a:ext cx="5321636" cy="2816033"/>
          </a:xfrm>
          <a:prstGeom prst="rect">
            <a:avLst/>
          </a:prstGeom>
        </p:spPr>
      </p:pic>
      <p:pic>
        <p:nvPicPr>
          <p:cNvPr id="18" name="Picture 17">
            <a:extLst>
              <a:ext uri="{FF2B5EF4-FFF2-40B4-BE49-F238E27FC236}">
                <a16:creationId xmlns:a16="http://schemas.microsoft.com/office/drawing/2014/main" id="{BE453DA1-C300-4A89-F32D-D6918E36EF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80501" y="3866579"/>
            <a:ext cx="5289855" cy="2726267"/>
          </a:xfrm>
          <a:prstGeom prst="rect">
            <a:avLst/>
          </a:prstGeom>
        </p:spPr>
      </p:pic>
      <p:pic>
        <p:nvPicPr>
          <p:cNvPr id="3" name="Picture 2">
            <a:extLst>
              <a:ext uri="{FF2B5EF4-FFF2-40B4-BE49-F238E27FC236}">
                <a16:creationId xmlns:a16="http://schemas.microsoft.com/office/drawing/2014/main" id="{EF7E821B-9CBA-D263-62F7-AD72A2F89E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426262"/>
            <a:ext cx="5274356" cy="2793620"/>
          </a:xfrm>
          <a:prstGeom prst="rect">
            <a:avLst/>
          </a:prstGeom>
        </p:spPr>
      </p:pic>
    </p:spTree>
    <p:extLst>
      <p:ext uri="{BB962C8B-B14F-4D97-AF65-F5344CB8AC3E}">
        <p14:creationId xmlns:p14="http://schemas.microsoft.com/office/powerpoint/2010/main" val="3681343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5477B2F-55FF-F69D-C3D6-25F5D455A7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2112" y="995362"/>
            <a:ext cx="8867775" cy="4867275"/>
          </a:xfrm>
          <a:prstGeom prst="rect">
            <a:avLst/>
          </a:prstGeom>
        </p:spPr>
      </p:pic>
    </p:spTree>
    <p:extLst>
      <p:ext uri="{BB962C8B-B14F-4D97-AF65-F5344CB8AC3E}">
        <p14:creationId xmlns:p14="http://schemas.microsoft.com/office/powerpoint/2010/main" val="4203524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A73C5A-1529-38B9-4386-5DBE7EB281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4962" y="1114425"/>
            <a:ext cx="8982075" cy="4629150"/>
          </a:xfrm>
          <a:prstGeom prst="rect">
            <a:avLst/>
          </a:prstGeom>
        </p:spPr>
      </p:pic>
    </p:spTree>
    <p:extLst>
      <p:ext uri="{BB962C8B-B14F-4D97-AF65-F5344CB8AC3E}">
        <p14:creationId xmlns:p14="http://schemas.microsoft.com/office/powerpoint/2010/main" val="829843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569196-2A10-2F42-3613-4626CE4C7D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4500" y="1066800"/>
            <a:ext cx="8763000" cy="4724400"/>
          </a:xfrm>
          <a:prstGeom prst="rect">
            <a:avLst/>
          </a:prstGeom>
        </p:spPr>
      </p:pic>
    </p:spTree>
    <p:extLst>
      <p:ext uri="{BB962C8B-B14F-4D97-AF65-F5344CB8AC3E}">
        <p14:creationId xmlns:p14="http://schemas.microsoft.com/office/powerpoint/2010/main" val="38036996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3.png">
            <a:extLst>
              <a:ext uri="{FF2B5EF4-FFF2-40B4-BE49-F238E27FC236}">
                <a16:creationId xmlns:a16="http://schemas.microsoft.com/office/drawing/2014/main" id="{88DC24E2-AF2D-4E4A-2F7A-65EBEC49E7FB}"/>
              </a:ext>
            </a:extLst>
          </p:cNvPr>
          <p:cNvPicPr/>
          <p:nvPr/>
        </p:nvPicPr>
        <p:blipFill>
          <a:blip r:embed="rId2"/>
          <a:srcRect/>
          <a:stretch>
            <a:fillRect/>
          </a:stretch>
        </p:blipFill>
        <p:spPr>
          <a:xfrm>
            <a:off x="3200400" y="1444752"/>
            <a:ext cx="5989320" cy="3995927"/>
          </a:xfrm>
          <a:prstGeom prst="rect">
            <a:avLst/>
          </a:prstGeom>
          <a:ln w="22225">
            <a:solidFill>
              <a:srgbClr val="953734"/>
            </a:solidFill>
            <a:prstDash val="solid"/>
          </a:ln>
        </p:spPr>
      </p:pic>
    </p:spTree>
    <p:extLst>
      <p:ext uri="{BB962C8B-B14F-4D97-AF65-F5344CB8AC3E}">
        <p14:creationId xmlns:p14="http://schemas.microsoft.com/office/powerpoint/2010/main" val="3525477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4F8C8E-F418-CA53-E75E-D09D32BBBE50}"/>
              </a:ext>
            </a:extLst>
          </p:cNvPr>
          <p:cNvSpPr txBox="1"/>
          <p:nvPr/>
        </p:nvSpPr>
        <p:spPr>
          <a:xfrm>
            <a:off x="749808" y="426847"/>
            <a:ext cx="8586216" cy="3303468"/>
          </a:xfrm>
          <a:prstGeom prst="rect">
            <a:avLst/>
          </a:prstGeom>
          <a:noFill/>
        </p:spPr>
        <p:txBody>
          <a:bodyPr wrap="square">
            <a:spAutoFit/>
          </a:bodyPr>
          <a:lstStyle/>
          <a:p>
            <a:pPr marL="0" marR="0" algn="just">
              <a:spcBef>
                <a:spcPts val="500"/>
              </a:spcBef>
              <a:spcAft>
                <a:spcPts val="500"/>
              </a:spcAft>
              <a:buNone/>
            </a:pPr>
            <a:r>
              <a:rPr lang="en-US" sz="1200" dirty="0">
                <a:effectLst/>
                <a:latin typeface="Times New Roman" panose="02020603050405020304" pitchFamily="18" charset="0"/>
                <a:ea typeface="Times New Roman" panose="02020603050405020304" pitchFamily="18" charset="0"/>
              </a:rPr>
              <a:t>This project will advance domestic critical-mineral and geothermal resource evaluation by determining whether volcanic-hosted systems can support combined geothermal energy production and critical-mineral recovery. The work will quantify lithium, rare earth elements, other critical minerals, major ions, and brine chemistry; identify geological, mineralogical, hydrologic, and geochemical controls on mineral enrichment and mobility; and evaluate how geothermal temperature and lithium concentration may decline under production or circulation. Colorado will serve as the anchor field area, with emphasis on Mount Princeton–Chalk Creek in Chaffee County and the San Juan Volcanic Field, while Medicine Lake, McDermitt Caldera, Valles Caldera, and Lanai Volcano will be used to test transferability across volcanic geothermal systems.</a:t>
            </a:r>
          </a:p>
          <a:p>
            <a:pPr marL="0" marR="0" algn="just">
              <a:spcBef>
                <a:spcPts val="500"/>
              </a:spcBef>
              <a:spcAft>
                <a:spcPts val="500"/>
              </a:spcAft>
              <a:buNone/>
            </a:pPr>
            <a:r>
              <a:rPr lang="en-US" sz="1200" kern="100" dirty="0">
                <a:effectLst/>
                <a:latin typeface="Times New Roman" panose="02020603050405020304" pitchFamily="18" charset="0"/>
                <a:ea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endParaRPr>
          </a:p>
          <a:p>
            <a:pPr marL="0" marR="0" algn="just">
              <a:spcBef>
                <a:spcPts val="500"/>
              </a:spcBef>
              <a:spcAft>
                <a:spcPts val="500"/>
              </a:spcAft>
              <a:buNone/>
            </a:pPr>
            <a:r>
              <a:rPr lang="en-US" sz="1200" dirty="0">
                <a:effectLst/>
                <a:latin typeface="Times New Roman" panose="02020603050405020304" pitchFamily="18" charset="0"/>
                <a:ea typeface="Times New Roman" panose="02020603050405020304" pitchFamily="18" charset="0"/>
              </a:rPr>
              <a:t>The technical approach integrates field sampling, laboratory assays, controlled rock-brine experiments, geophysical sensing, slim-hole confirmation, downhole fluid assays, core characterization, site-twin assimilation, and Artificial Intelligence (AI) and Machine Learning (ML) prediction across a 36-month period of performance. Months 1–12 will establish the data foundation, develop and validate the initial AI and ML screening framework, rank candidate systems, secure field access and permitting readiness, initiate stakeholder engagement, and complete baseline field, geochemical, geophysical, and laboratory characterization. Months 13–24 will field-test ranked targets through sensing, sampling, slim-hole confirmation, downhole fluid assays, core characterization, and initial site-twin assimilation to confirm or falsify lithium and geothermal potential. Months 25–36 will complete resource characterization, depletion analysis, techno-economic analysis, life-cycle analysis, non-proprietary data release, technology transfer, and final reporting.</a:t>
            </a:r>
          </a:p>
        </p:txBody>
      </p:sp>
    </p:spTree>
    <p:extLst>
      <p:ext uri="{BB962C8B-B14F-4D97-AF65-F5344CB8AC3E}">
        <p14:creationId xmlns:p14="http://schemas.microsoft.com/office/powerpoint/2010/main" val="1682823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6AA8B7-F416-A08E-B2A9-AC3778F84356}"/>
              </a:ext>
            </a:extLst>
          </p:cNvPr>
          <p:cNvSpPr txBox="1"/>
          <p:nvPr/>
        </p:nvSpPr>
        <p:spPr>
          <a:xfrm>
            <a:off x="3047238" y="3105835"/>
            <a:ext cx="6094476" cy="646331"/>
          </a:xfrm>
          <a:prstGeom prst="rect">
            <a:avLst/>
          </a:prstGeom>
          <a:noFill/>
        </p:spPr>
        <p:txBody>
          <a:bodyPr wrap="square">
            <a:spAutoFit/>
          </a:bodyPr>
          <a:lstStyle/>
          <a:p>
            <a:r>
              <a:rPr lang="en-US" dirty="0"/>
              <a:t>https://drive.google.com/file/d/1vnmJkgQMDRQvpCIrI984Fvlfsv6CoLXY/view?usp=drive_web</a:t>
            </a:r>
          </a:p>
        </p:txBody>
      </p:sp>
    </p:spTree>
    <p:extLst>
      <p:ext uri="{BB962C8B-B14F-4D97-AF65-F5344CB8AC3E}">
        <p14:creationId xmlns:p14="http://schemas.microsoft.com/office/powerpoint/2010/main" val="20823822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672</TotalTime>
  <Words>839</Words>
  <Application>Microsoft Office PowerPoint</Application>
  <PresentationFormat>Widescreen</PresentationFormat>
  <Paragraphs>56</Paragraphs>
  <Slides>21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Aptos</vt:lpstr>
      <vt:lpstr>Aptos Display</vt:lpstr>
      <vt:lpstr>Arial</vt:lpstr>
      <vt:lpstr>Bernard MT Condensed</vt:lpstr>
      <vt:lpstr>Libre Franklin</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Ojede</dc:creator>
  <cp:lastModifiedBy>Andrew Ojede</cp:lastModifiedBy>
  <cp:revision>1</cp:revision>
  <dcterms:created xsi:type="dcterms:W3CDTF">2026-08-06T14:24:09Z</dcterms:created>
  <dcterms:modified xsi:type="dcterms:W3CDTF">2026-08-07T15:48:32Z</dcterms:modified>
</cp:coreProperties>
</file>